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74" r:id="rId9"/>
    <p:sldId id="272" r:id="rId10"/>
    <p:sldId id="273" r:id="rId11"/>
    <p:sldId id="263" r:id="rId12"/>
    <p:sldId id="271" r:id="rId13"/>
    <p:sldId id="264" r:id="rId14"/>
    <p:sldId id="265" r:id="rId15"/>
    <p:sldId id="266" r:id="rId16"/>
    <p:sldId id="267" r:id="rId17"/>
    <p:sldId id="269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438" y="0"/>
            <a:ext cx="7766936" cy="2613922"/>
          </a:xfrm>
        </p:spPr>
        <p:txBody>
          <a:bodyPr/>
          <a:lstStyle/>
          <a:p>
            <a:pPr algn="l"/>
            <a:r>
              <a:rPr lang="en-GB" sz="4800" dirty="0"/>
              <a:t>NYC PAYROLL </a:t>
            </a:r>
            <a:r>
              <a:rPr lang="en-GB" sz="4800" dirty="0" smtClean="0"/>
              <a:t/>
            </a:r>
            <a:br>
              <a:rPr lang="en-GB" sz="4800" dirty="0" smtClean="0"/>
            </a:br>
            <a:r>
              <a:rPr lang="en-GB" sz="4800" dirty="0" smtClean="0"/>
              <a:t>Data </a:t>
            </a:r>
            <a:r>
              <a:rPr lang="en-GB" sz="4800" dirty="0"/>
              <a:t>Engineering Project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049521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Presented by: Manoj </a:t>
            </a:r>
            <a:r>
              <a:rPr lang="en-GB" dirty="0" smtClean="0"/>
              <a:t>Adhikari</a:t>
            </a:r>
          </a:p>
          <a:p>
            <a:pPr algn="l"/>
            <a:r>
              <a:rPr lang="en-US" dirty="0"/>
              <a:t>Course : Data </a:t>
            </a:r>
            <a:r>
              <a:rPr lang="en-US" dirty="0" smtClean="0"/>
              <a:t>Engineering</a:t>
            </a:r>
          </a:p>
          <a:p>
            <a:pPr algn="l"/>
            <a:r>
              <a:rPr lang="en-GB" dirty="0"/>
              <a:t>Training: LeapFrog </a:t>
            </a:r>
            <a:r>
              <a:rPr lang="en-GB" dirty="0" smtClean="0"/>
              <a:t>Connect</a:t>
            </a:r>
          </a:p>
          <a:p>
            <a:pPr algn="l"/>
            <a:r>
              <a:rPr lang="en-GB" dirty="0" smtClean="0"/>
              <a:t>Date</a:t>
            </a:r>
            <a:r>
              <a:rPr lang="en-GB"/>
              <a:t>: </a:t>
            </a:r>
            <a:r>
              <a:rPr lang="en-GB" smtClean="0"/>
              <a:t>May 15, 2026</a:t>
            </a:r>
            <a:endParaRPr lang="en-GB" dirty="0" smtClean="0"/>
          </a:p>
          <a:p>
            <a:pPr algn="l"/>
            <a:r>
              <a:rPr lang="en-GB" dirty="0" smtClean="0"/>
              <a:t>Dataset</a:t>
            </a:r>
            <a:r>
              <a:rPr lang="en-GB" dirty="0"/>
              <a:t>: NYC Citywide Payroll Data (2014-2017)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5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 &amp; OBJECTIVES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749410"/>
              </p:ext>
            </p:extLst>
          </p:nvPr>
        </p:nvGraphicFramePr>
        <p:xfrm>
          <a:off x="677334" y="2309223"/>
          <a:ext cx="3815760" cy="2925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760">
                  <a:extLst>
                    <a:ext uri="{9D8B030D-6E8A-4147-A177-3AD203B41FA5}">
                      <a16:colId xmlns:a16="http://schemas.microsoft.com/office/drawing/2014/main" val="1007241023"/>
                    </a:ext>
                  </a:extLst>
                </a:gridCol>
              </a:tblGrid>
              <a:tr h="425858">
                <a:tc>
                  <a:txBody>
                    <a:bodyPr/>
                    <a:lstStyle/>
                    <a:p>
                      <a:r>
                        <a:rPr lang="en-GB" smtClean="0"/>
                        <a:t>THE PROBLEM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948411"/>
                  </a:ext>
                </a:extLst>
              </a:tr>
              <a:tr h="1577997"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NYC government generates millions of payroll records every year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Raw data is unstructured, messy and hard to analyze directly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Salary columns have $ signs, columns have NULL values and duplicate records exist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No proper data warehouse exists for fast analytical queries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Decision makers cannot get quick insights from raw payroll data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38304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94182"/>
              </p:ext>
            </p:extLst>
          </p:nvPr>
        </p:nvGraphicFramePr>
        <p:xfrm>
          <a:off x="5288425" y="2309223"/>
          <a:ext cx="3815760" cy="29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760">
                  <a:extLst>
                    <a:ext uri="{9D8B030D-6E8A-4147-A177-3AD203B41FA5}">
                      <a16:colId xmlns:a16="http://schemas.microsoft.com/office/drawing/2014/main" val="1470143178"/>
                    </a:ext>
                  </a:extLst>
                </a:gridCol>
              </a:tblGrid>
              <a:tr h="311738">
                <a:tc>
                  <a:txBody>
                    <a:bodyPr/>
                    <a:lstStyle/>
                    <a:p>
                      <a:r>
                        <a:rPr lang="en-GB" smtClean="0"/>
                        <a:t>MY OBJECTIVES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283833"/>
                  </a:ext>
                </a:extLst>
              </a:tr>
              <a:tr h="2613480"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 data profiling</a:t>
                      </a:r>
                      <a:r>
                        <a:rPr lang="en-US" sz="1400" baseline="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 understand data quality using SQL queries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Star Schema for analytical data warehouse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complete ETL pipeline following clean structure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 and clean 2.1 million payroll records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KPIs and business insights from payroll data</a:t>
                      </a:r>
                      <a:endParaRPr lang="en-US" sz="1400" smtClean="0"/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62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75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650929" cy="555921"/>
          </a:xfrm>
        </p:spPr>
        <p:txBody>
          <a:bodyPr>
            <a:normAutofit fontScale="90000"/>
          </a:bodyPr>
          <a:lstStyle/>
          <a:p>
            <a:r>
              <a:rPr lang="en-GB" smtClean="0"/>
              <a:t>Dataset Overview &amp; Data Profiling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4264" y="1816358"/>
            <a:ext cx="1600113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2.1M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24842" y="1820598"/>
            <a:ext cx="1467080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16</a:t>
            </a:r>
          </a:p>
          <a:p>
            <a:pPr algn="ctr"/>
            <a:r>
              <a:rPr lang="en-GB" smtClean="0"/>
              <a:t>Columns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85989" y="1816357"/>
            <a:ext cx="1611003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2014-2017</a:t>
            </a:r>
          </a:p>
          <a:p>
            <a:pPr algn="ctr"/>
            <a:r>
              <a:rPr lang="en-GB" smtClean="0"/>
              <a:t>Fiscal Years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91059" y="1780870"/>
            <a:ext cx="1694734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165</a:t>
            </a:r>
          </a:p>
          <a:p>
            <a:pPr algn="ctr"/>
            <a:r>
              <a:rPr lang="en-GB" smtClean="0"/>
              <a:t>Agencies</a:t>
            </a:r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254459"/>
              </p:ext>
            </p:extLst>
          </p:nvPr>
        </p:nvGraphicFramePr>
        <p:xfrm>
          <a:off x="764264" y="3311698"/>
          <a:ext cx="3632943" cy="270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981">
                  <a:extLst>
                    <a:ext uri="{9D8B030D-6E8A-4147-A177-3AD203B41FA5}">
                      <a16:colId xmlns:a16="http://schemas.microsoft.com/office/drawing/2014/main" val="3392864310"/>
                    </a:ext>
                  </a:extLst>
                </a:gridCol>
                <a:gridCol w="1210981">
                  <a:extLst>
                    <a:ext uri="{9D8B030D-6E8A-4147-A177-3AD203B41FA5}">
                      <a16:colId xmlns:a16="http://schemas.microsoft.com/office/drawing/2014/main" val="2046553339"/>
                    </a:ext>
                  </a:extLst>
                </a:gridCol>
                <a:gridCol w="1210981">
                  <a:extLst>
                    <a:ext uri="{9D8B030D-6E8A-4147-A177-3AD203B41FA5}">
                      <a16:colId xmlns:a16="http://schemas.microsoft.com/office/drawing/2014/main" val="2421328435"/>
                    </a:ext>
                  </a:extLst>
                </a:gridCol>
              </a:tblGrid>
              <a:tr h="225910">
                <a:tc>
                  <a:txBody>
                    <a:bodyPr/>
                    <a:lstStyle/>
                    <a:p>
                      <a:r>
                        <a:rPr lang="en-GB" sz="1200" smtClean="0"/>
                        <a:t>Column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Null Count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Action Taken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01122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Mid </a:t>
                      </a:r>
                      <a:r>
                        <a:rPr lang="en-US" sz="1100" err="1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Init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890,008 (40.56%)</a:t>
                      </a:r>
                      <a:endParaRPr lang="en-US" sz="1100" dirty="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Kept as NULL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71366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 Location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506,214 (23.07%)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934705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Name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952 (0.04%)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66237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Last Name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942 (0.04%)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512798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 Description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 (0.00%)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dirty="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39639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785989" y="3311698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r>
              <a:rPr lang="en-US" sz="1200" b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</a:t>
            </a:r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REPLACE() to remove $</a:t>
            </a:r>
            <a:endParaRPr lang="en-US" sz="1100">
              <a:solidFill>
                <a:schemeClr val="tx1"/>
              </a:solidFill>
            </a:endParaRPr>
          </a:p>
          <a:p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76966" y="3886403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Spaces  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on all columns</a:t>
            </a:r>
            <a:endParaRPr lang="en-US" sz="11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76966" y="4432293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Duplicates             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r>
              <a:rPr lang="en-US" sz="1100" b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INCT</a:t>
            </a:r>
            <a:endParaRPr lang="en-US" sz="1100">
              <a:solidFill>
                <a:schemeClr val="tx1"/>
              </a:solidFill>
            </a:endParaRPr>
          </a:p>
          <a:p>
            <a:r>
              <a:rPr lang="en-GB" smtClean="0"/>
              <a:t> 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776966" y="4972333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</a:t>
            </a:r>
            <a:r>
              <a:rPr lang="en-US" sz="1200" b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INT, DATE, NUMERIC</a:t>
            </a:r>
            <a:endParaRPr lang="en-US" sz="11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776966" y="5600470"/>
            <a:ext cx="3808827" cy="420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Salaries       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(corrections)</a:t>
            </a:r>
            <a:endParaRPr lang="en-US" sz="11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4264" y="6263291"/>
            <a:ext cx="7776991" cy="3419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profiling queries written in SQL and executed in pgAdmin — saved in profiling/</a:t>
            </a:r>
            <a:r>
              <a:rPr lang="en-US" sz="1200" i="1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profiling.sql</a:t>
            </a:r>
            <a:endParaRPr lang="en-US" sz="1200"/>
          </a:p>
        </p:txBody>
      </p:sp>
      <p:sp>
        <p:nvSpPr>
          <p:cNvPr id="3" name="Rectangle 2"/>
          <p:cNvSpPr/>
          <p:nvPr/>
        </p:nvSpPr>
        <p:spPr>
          <a:xfrm>
            <a:off x="677334" y="2952795"/>
            <a:ext cx="28089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Found During Profiling</a:t>
            </a:r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4667726" y="2927595"/>
            <a:ext cx="21139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Found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6650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894" y="426720"/>
            <a:ext cx="4652312" cy="618309"/>
          </a:xfrm>
        </p:spPr>
        <p:txBody>
          <a:bodyPr>
            <a:normAutofit fontScale="90000"/>
          </a:bodyPr>
          <a:lstStyle/>
          <a:p>
            <a:r>
              <a:rPr lang="en-US"/>
              <a:t>STAR SCHEMA </a:t>
            </a:r>
            <a:r>
              <a:rPr lang="en-US" smtClean="0"/>
              <a:t>DESIGN</a:t>
            </a:r>
            <a:br>
              <a:rPr lang="en-US" smtClean="0"/>
            </a:br>
            <a:r>
              <a:rPr lang="en-US"/>
              <a:t/>
            </a:r>
            <a:br>
              <a:rPr lang="en-US"/>
            </a:br>
            <a:r>
              <a:rPr lang="en-US" smtClean="0"/>
              <a:t/>
            </a:r>
            <a:br>
              <a:rPr lang="en-US" smtClean="0"/>
            </a:b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52137" y="4593768"/>
            <a:ext cx="1985553" cy="10319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fiscal_year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355353" y="2085702"/>
            <a:ext cx="1933303" cy="10232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dim_title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title_description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2137" y="2085702"/>
            <a:ext cx="1921695" cy="1454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dirty="0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dim_employee</a:t>
            </a:r>
            <a:endParaRPr lang="en-US" b="1" dirty="0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1400" dirty="0" smtClean="0">
              <a:solidFill>
                <a:schemeClr val="tx1"/>
              </a:solidFill>
            </a:endParaRPr>
          </a:p>
          <a:p>
            <a:pPr algn="ctr"/>
            <a:r>
              <a:rPr lang="en-US" sz="1400" dirty="0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leave_statu</a:t>
            </a:r>
            <a:r>
              <a:rPr lang="en-US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297682" y="1393370"/>
            <a:ext cx="2037804" cy="10232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dim_agency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agency_name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65470" y="5255621"/>
            <a:ext cx="1502228" cy="988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dim_pay_basis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pay_basis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355353" y="4593768"/>
            <a:ext cx="1933303" cy="9492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work_location_borough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095208" y="3216727"/>
            <a:ext cx="2442752" cy="12387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fact_payroll</a:t>
            </a:r>
            <a:endParaRPr lang="en-US" sz="1400" b="1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base_salary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regular_hours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regular_gross_paid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ot_hours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total_ot_paid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total_other_pay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2" idx="3"/>
            <a:endCxn id="6" idx="1"/>
          </p:cNvCxnSpPr>
          <p:nvPr/>
        </p:nvCxnSpPr>
        <p:spPr>
          <a:xfrm flipV="1">
            <a:off x="6537960" y="2597332"/>
            <a:ext cx="817393" cy="1238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3"/>
          </p:cNvCxnSpPr>
          <p:nvPr/>
        </p:nvCxnSpPr>
        <p:spPr>
          <a:xfrm>
            <a:off x="6537960" y="3836125"/>
            <a:ext cx="817393" cy="127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0"/>
            <a:endCxn id="8" idx="2"/>
          </p:cNvCxnSpPr>
          <p:nvPr/>
        </p:nvCxnSpPr>
        <p:spPr>
          <a:xfrm flipV="1">
            <a:off x="5316584" y="2416629"/>
            <a:ext cx="0" cy="80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2873831" y="3000102"/>
            <a:ext cx="1221376" cy="831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2" idx="1"/>
            <a:endCxn id="5" idx="3"/>
          </p:cNvCxnSpPr>
          <p:nvPr/>
        </p:nvCxnSpPr>
        <p:spPr>
          <a:xfrm flipH="1">
            <a:off x="2937690" y="3836125"/>
            <a:ext cx="1157518" cy="1273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2" idx="2"/>
            <a:endCxn id="9" idx="0"/>
          </p:cNvCxnSpPr>
          <p:nvPr/>
        </p:nvCxnSpPr>
        <p:spPr>
          <a:xfrm>
            <a:off x="5316584" y="4455523"/>
            <a:ext cx="0" cy="80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44913" y="6544480"/>
            <a:ext cx="6160101" cy="195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 Schema?  Fast queries  |  Easy to understand  |  Industry standard  |  Minimal joins needed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182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1" y="1132279"/>
            <a:ext cx="8216900" cy="54498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40234" y="5949434"/>
            <a:ext cx="2478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Figure 1: ERD </a:t>
            </a:r>
            <a:r>
              <a:rPr lang="en-US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268541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54540" cy="657497"/>
          </a:xfrm>
        </p:spPr>
        <p:txBody>
          <a:bodyPr>
            <a:normAutofit/>
          </a:bodyPr>
          <a:lstStyle/>
          <a:p>
            <a:r>
              <a:rPr lang="en-US" sz="3200"/>
              <a:t>ETL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621" y="1662240"/>
            <a:ext cx="2031799" cy="1136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GB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79009" y="1649183"/>
            <a:ext cx="1754722" cy="1136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</a:p>
          <a:p>
            <a:pPr algn="ctr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94313" y="1649184"/>
            <a:ext cx="1741436" cy="1136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Layer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68621" y="2788914"/>
            <a:ext cx="2031799" cy="38012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row by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 as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TRUNCATE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2,194,488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879008" y="2798709"/>
            <a:ext cx="1754723" cy="38012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$ from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DISTINCT (remove dups)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194313" y="2798709"/>
            <a:ext cx="1741436" cy="38012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 tables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Load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 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Foreign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Star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ready!</a:t>
            </a: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83639" y="3027315"/>
            <a:ext cx="1741436" cy="2351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raw.raw_nyc_payroll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5194313" y="3027314"/>
            <a:ext cx="1741436" cy="2351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final.fact_payroll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2892296" y="3050177"/>
            <a:ext cx="1741436" cy="2351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stg.stg_nyc_payroll</a:t>
            </a:r>
            <a:endParaRPr lang="en-US" sz="1400" dirty="0"/>
          </a:p>
        </p:txBody>
      </p:sp>
      <p:cxnSp>
        <p:nvCxnSpPr>
          <p:cNvPr id="14" name="Straight Arrow Connector 13"/>
          <p:cNvCxnSpPr>
            <a:stCxn id="7" idx="3"/>
            <a:endCxn id="8" idx="1"/>
          </p:cNvCxnSpPr>
          <p:nvPr/>
        </p:nvCxnSpPr>
        <p:spPr>
          <a:xfrm>
            <a:off x="2500420" y="4689560"/>
            <a:ext cx="378588" cy="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7467326" y="1603466"/>
            <a:ext cx="1786957" cy="112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INCREMENTAL</a:t>
            </a:r>
          </a:p>
          <a:p>
            <a:pPr algn="ctr"/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LOAD</a:t>
            </a:r>
          </a:p>
          <a:p>
            <a:pPr algn="ctr"/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New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Data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67327" y="2736668"/>
            <a:ext cx="1786957" cy="3781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new records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GB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NOTHING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GB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existing records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GB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tracker records run</a:t>
            </a:r>
            <a:endParaRPr lang="en-US" sz="1400" dirty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67326" y="2965267"/>
            <a:ext cx="1786958" cy="3200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incremental_2018.csv</a:t>
            </a:r>
            <a:endParaRPr lang="en-US" sz="1200" dirty="0"/>
          </a:p>
        </p:txBody>
      </p:sp>
      <p:cxnSp>
        <p:nvCxnSpPr>
          <p:cNvPr id="26" name="Straight Arrow Connector 25"/>
          <p:cNvCxnSpPr>
            <a:stCxn id="8" idx="3"/>
          </p:cNvCxnSpPr>
          <p:nvPr/>
        </p:nvCxnSpPr>
        <p:spPr>
          <a:xfrm>
            <a:off x="4633731" y="4699355"/>
            <a:ext cx="526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9" idx="3"/>
          </p:cNvCxnSpPr>
          <p:nvPr/>
        </p:nvCxnSpPr>
        <p:spPr>
          <a:xfrm>
            <a:off x="6935749" y="4699355"/>
            <a:ext cx="531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90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900506" cy="579120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97280"/>
            <a:ext cx="8596668" cy="532964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Python Files</a:t>
            </a:r>
          </a:p>
          <a:p>
            <a:pPr marL="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914398" y="1332411"/>
            <a:ext cx="3422469" cy="509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14398" y="1841862"/>
            <a:ext cx="3422469" cy="49030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nyc_payroll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airflow/ → Orchestration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dags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DAG files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└── nyc_payroll_dag.py → Workflow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logs/ → Logs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plugins/ → Plugins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Docker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raw/ → CSV (full)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new/ → CSV (incremental)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 → DB connection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__init__.py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postgresql.py → Setup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Pipeline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__init__.py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load_raw.py → Extract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load_stg.py → Transform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load_final.py → Load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load_incremental.py → Incremental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CREATE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 01_raw.sql → Raw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 02_stg.sql → Staging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 03_final.sql → Final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└── 04_batch.sql → Batch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INSERT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01_raw.sql → Raw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02_stg.sql → Staging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03_final.sql → Final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profiling/ → Data check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profiling.sql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Query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analysis/ → Insights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analysis.sql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Query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__init__.py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sql_utils.py → Read SQL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→ Entry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→ Docs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85507" y="2011680"/>
            <a:ext cx="4140928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postgresql.py 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PostgreSQL database</a:t>
            </a:r>
            <a:endParaRPr lang="en-US" sz="1200"/>
          </a:p>
          <a:p>
            <a:endParaRPr lang="en-US" sz="1200"/>
          </a:p>
        </p:txBody>
      </p:sp>
      <p:sp>
        <p:nvSpPr>
          <p:cNvPr id="21" name="Rectangle 20"/>
          <p:cNvSpPr/>
          <p:nvPr/>
        </p:nvSpPr>
        <p:spPr>
          <a:xfrm>
            <a:off x="4885506" y="2626722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sql_utils.py 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files from disk</a:t>
            </a:r>
            <a:endParaRPr lang="en-US" sz="1200"/>
          </a:p>
          <a:p>
            <a:endParaRPr lang="en-US" sz="1200"/>
          </a:p>
        </p:txBody>
      </p:sp>
      <p:sp>
        <p:nvSpPr>
          <p:cNvPr id="22" name="Rectangle 21"/>
          <p:cNvSpPr/>
          <p:nvPr/>
        </p:nvSpPr>
        <p:spPr>
          <a:xfrm>
            <a:off x="4885506" y="3241765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load_raw.py 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raw table</a:t>
            </a:r>
            <a:endParaRPr lang="en-US" sz="1200"/>
          </a:p>
          <a:p>
            <a:endParaRPr lang="en-US" sz="1200"/>
          </a:p>
        </p:txBody>
      </p:sp>
      <p:sp>
        <p:nvSpPr>
          <p:cNvPr id="23" name="Rectangle 22"/>
          <p:cNvSpPr/>
          <p:nvPr/>
        </p:nvSpPr>
        <p:spPr>
          <a:xfrm>
            <a:off x="4885506" y="3860073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load_stg.py	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→ staging</a:t>
            </a:r>
            <a:endParaRPr lang="en-US" sz="1200"/>
          </a:p>
          <a:p>
            <a:endParaRPr lang="en-US" sz="1200"/>
          </a:p>
        </p:txBody>
      </p:sp>
      <p:sp>
        <p:nvSpPr>
          <p:cNvPr id="24" name="Rectangle 23"/>
          <p:cNvSpPr/>
          <p:nvPr/>
        </p:nvSpPr>
        <p:spPr>
          <a:xfrm>
            <a:off x="4885506" y="4478381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load_final.py 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warehouse</a:t>
            </a:r>
            <a:endParaRPr lang="en-US" sz="1200"/>
          </a:p>
          <a:p>
            <a:endParaRPr lang="en-US" sz="1200"/>
          </a:p>
        </p:txBody>
      </p:sp>
      <p:sp>
        <p:nvSpPr>
          <p:cNvPr id="26" name="Rectangle 25"/>
          <p:cNvSpPr/>
          <p:nvPr/>
        </p:nvSpPr>
        <p:spPr>
          <a:xfrm>
            <a:off x="4885505" y="5096689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	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pipeline</a:t>
            </a:r>
            <a:endParaRPr lang="en-US" sz="1200"/>
          </a:p>
          <a:p>
            <a:endParaRPr lang="en-US" sz="1200"/>
          </a:p>
        </p:txBody>
      </p:sp>
      <p:sp>
        <p:nvSpPr>
          <p:cNvPr id="27" name="Rectangle 26"/>
          <p:cNvSpPr/>
          <p:nvPr/>
        </p:nvSpPr>
        <p:spPr>
          <a:xfrm>
            <a:off x="6065403" y="5711731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</a:t>
            </a:r>
            <a:r>
              <a:rPr lang="en-US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885504" y="5913901"/>
            <a:ext cx="46255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 smtClean="0">
              <a:solidFill>
                <a:srgbClr val="6C757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01_create_raw  |  02_create_stg  |  </a:t>
            </a:r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03_create_final</a:t>
            </a:r>
          </a:p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DML: 01_load_raw  |  02_load_stg  |  03_load_final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51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769" y="875489"/>
            <a:ext cx="2760694" cy="452336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67732" y="5544766"/>
            <a:ext cx="299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Project Folder Structure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0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846871" cy="722811"/>
          </a:xfrm>
        </p:spPr>
        <p:txBody>
          <a:bodyPr>
            <a:normAutofit fontScale="90000"/>
          </a:bodyPr>
          <a:lstStyle/>
          <a:p>
            <a:r>
              <a:rPr lang="en-US" dirty="0"/>
              <a:t>Pipeline Orchestration with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4297"/>
            <a:ext cx="8596668" cy="4708951"/>
          </a:xfrm>
        </p:spPr>
        <p:txBody>
          <a:bodyPr/>
          <a:lstStyle/>
          <a:p>
            <a:r>
              <a:rPr lang="en-GB" dirty="0"/>
              <a:t>Content: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→ </a:t>
            </a:r>
            <a:r>
              <a:rPr lang="en-GB" dirty="0"/>
              <a:t>DAG: </a:t>
            </a:r>
            <a:r>
              <a:rPr lang="en-GB" dirty="0" err="1"/>
              <a:t>nyc_payroll_pipeline</a:t>
            </a:r>
            <a:r>
              <a:rPr lang="en-GB" dirty="0"/>
              <a:t> 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→ </a:t>
            </a:r>
            <a:r>
              <a:rPr lang="en-GB" dirty="0"/>
              <a:t>Schedule: @daily (runs every day</a:t>
            </a:r>
            <a:r>
              <a:rPr lang="en-GB" dirty="0" smtClean="0"/>
              <a:t>!)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</a:t>
            </a:r>
            <a:r>
              <a:rPr lang="en-GB" dirty="0"/>
              <a:t>→ 4 Tasks in order: </a:t>
            </a:r>
            <a:r>
              <a:rPr lang="en-GB" dirty="0" err="1" smtClean="0"/>
              <a:t>extract_raw_layer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				    </a:t>
            </a:r>
            <a:r>
              <a:rPr lang="en-GB" dirty="0" err="1" smtClean="0"/>
              <a:t>transform_stg_layer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				    </a:t>
            </a:r>
            <a:r>
              <a:rPr lang="en-GB" dirty="0" err="1" smtClean="0"/>
              <a:t>load_warehouse_layer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				    </a:t>
            </a:r>
            <a:r>
              <a:rPr lang="en-GB" dirty="0" err="1" smtClean="0"/>
              <a:t>incremental_load</a:t>
            </a:r>
            <a:endParaRPr lang="en-GB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00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6" y="86843"/>
            <a:ext cx="9143999" cy="44695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8714" y="4772689"/>
            <a:ext cx="7254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Figure </a:t>
            </a:r>
            <a:r>
              <a:rPr lang="en-US" dirty="0" smtClean="0"/>
              <a:t>2: </a:t>
            </a:r>
            <a:r>
              <a:rPr lang="en-GB" dirty="0" err="1" smtClean="0"/>
              <a:t>nyc_payroll_pipeline</a:t>
            </a:r>
            <a:r>
              <a:rPr lang="en-GB" dirty="0" smtClean="0"/>
              <a:t> DAG(All </a:t>
            </a:r>
            <a:r>
              <a:rPr lang="en-GB" dirty="0"/>
              <a:t>Tasks Executed </a:t>
            </a:r>
            <a:r>
              <a:rPr lang="en-GB" dirty="0" smtClean="0"/>
              <a:t>Successfully)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31075" y="5574550"/>
            <a:ext cx="88696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The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above screenshot shows the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accent2">
                    <a:lumMod val="50000"/>
                  </a:schemeClr>
                </a:solidFill>
              </a:rPr>
              <a:t>nyc_payroll_pipeline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DAG running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successfully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in Apache Airflow.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All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4 tasks completed with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green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status indicating </a:t>
            </a:r>
            <a:r>
              <a:rPr lang="en-US" sz="1600" dirty="0" err="1" smtClean="0">
                <a:solidFill>
                  <a:schemeClr val="accent2">
                    <a:lumMod val="50000"/>
                  </a:schemeClr>
                </a:solidFill>
              </a:rPr>
              <a:t>success.The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pipeline runs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automatically every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day using @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daily schedule.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16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5214015" cy="513806"/>
          </a:xfrm>
        </p:spPr>
        <p:txBody>
          <a:bodyPr>
            <a:normAutofit fontScale="90000"/>
          </a:bodyPr>
          <a:lstStyle/>
          <a:p>
            <a:r>
              <a:rPr lang="en-US"/>
              <a:t>PIPELINE EXECUTION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734" y="1451245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Prerequisites</a:t>
            </a:r>
          </a:p>
          <a:p>
            <a:endParaRPr lang="en-GB" sz="1200" b="1" dirty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dirty="0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required Python package</a:t>
            </a:r>
            <a:endParaRPr lang="en-US" sz="1200" dirty="0"/>
          </a:p>
          <a:p>
            <a:endParaRPr lang="en-GB" sz="1200" b="1" dirty="0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</a:t>
            </a:r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psycopg2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 dirty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1210733" y="2989401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in pgAdmin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name: </a:t>
            </a:r>
            <a:r>
              <a:rPr lang="en-US" sz="120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nyc_payroll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9" name="Rectangle 8"/>
          <p:cNvSpPr/>
          <p:nvPr/>
        </p:nvSpPr>
        <p:spPr>
          <a:xfrm>
            <a:off x="1210733" y="4558648"/>
            <a:ext cx="3163751" cy="14455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Configure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PostgreSQL </a:t>
            </a:r>
            <a:r>
              <a:rPr lang="en-US" sz="120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password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database/postgresql.py → update password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0" name="Rectangle 9"/>
          <p:cNvSpPr/>
          <p:nvPr/>
        </p:nvSpPr>
        <p:spPr>
          <a:xfrm>
            <a:off x="5551621" y="1403530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Place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CSV inside data/raw/ folder</a:t>
            </a:r>
            <a:endParaRPr lang="en-US" sz="1200"/>
          </a:p>
          <a:p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data/raw/Citywide_Payroll_Data__Fiscal_Year_.csv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1" name="Rectangle 10"/>
          <p:cNvSpPr/>
          <p:nvPr/>
        </p:nvSpPr>
        <p:spPr>
          <a:xfrm>
            <a:off x="5551620" y="2935151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Environment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virtual environment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\Scripts\activate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2" name="Rectangle 11"/>
          <p:cNvSpPr/>
          <p:nvPr/>
        </p:nvSpPr>
        <p:spPr>
          <a:xfrm>
            <a:off x="5551620" y="4484675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Run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full ETL pipeline</a:t>
            </a:r>
            <a:endParaRPr lang="en-US" sz="1200"/>
          </a:p>
          <a:p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3" name="Oval 12"/>
          <p:cNvSpPr/>
          <p:nvPr/>
        </p:nvSpPr>
        <p:spPr>
          <a:xfrm>
            <a:off x="1407220" y="1556384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</a:t>
            </a: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691245" y="4588020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91245" y="3042554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691245" y="1541234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407220" y="4676140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407220" y="3072855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57200" y="6214296"/>
            <a:ext cx="8594962" cy="4402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Output: Database Connected  →  RAW layer loaded  →  STAGING layer loaded  →  WAREHOUSE layer loaded</a:t>
            </a:r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9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08678" y="4996934"/>
            <a:ext cx="3681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Figure 4: Terminal </a:t>
            </a:r>
            <a:r>
              <a:rPr lang="en-US" dirty="0"/>
              <a:t>success 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57" y="668372"/>
            <a:ext cx="923285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6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3805766" cy="546100"/>
          </a:xfrm>
        </p:spPr>
        <p:txBody>
          <a:bodyPr>
            <a:normAutofit fontScale="90000"/>
          </a:bodyPr>
          <a:lstStyle/>
          <a:p>
            <a:r>
              <a:rPr lang="en-US"/>
              <a:t>CHALLENGES FACED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5134" y="4673600"/>
            <a:ext cx="3805766" cy="1549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</a:t>
            </a:r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</a:t>
            </a:r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</a:p>
          <a:p>
            <a:endParaRPr lang="en-US" sz="1200"/>
          </a:p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</a:t>
            </a:r>
            <a:r>
              <a:rPr lang="en-US" sz="120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fact_payroll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dimension tables caused foreign key constraint violations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200"/>
          </a:p>
          <a:p>
            <a:r>
              <a:rPr lang="en-US" sz="1200" smtClean="0"/>
              <a:t> </a:t>
            </a:r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Loaded all 6 dimension tables BEFORE loading fact table</a:t>
            </a:r>
            <a:endParaRPr lang="en-US" sz="1200"/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5" name="Rectangle 14"/>
          <p:cNvSpPr/>
          <p:nvPr/>
        </p:nvSpPr>
        <p:spPr>
          <a:xfrm>
            <a:off x="5467880" y="4673600"/>
            <a:ext cx="3805766" cy="1549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</a:p>
          <a:p>
            <a:endParaRPr lang="en-US" sz="1200"/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million rows took long time to load row by row using Python csv module </a:t>
            </a:r>
            <a:endParaRPr lang="en-US" sz="120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psycopg2 cursor efficiently and committed after each layer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7" name="Rectangle 16"/>
          <p:cNvSpPr/>
          <p:nvPr/>
        </p:nvSpPr>
        <p:spPr>
          <a:xfrm>
            <a:off x="5467880" y="1143000"/>
            <a:ext cx="3805766" cy="1714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Key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</a:p>
          <a:p>
            <a:endParaRPr lang="en-US" sz="1200"/>
          </a:p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Borough had 506,214 NULLs (23%). This caused issues when loading dimension tables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200"/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COALESCE() to replace NULLs with 'UNKNOWN'</a:t>
            </a:r>
            <a:endParaRPr lang="en-US" sz="1200"/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9" name="Rectangle 18"/>
          <p:cNvSpPr/>
          <p:nvPr/>
        </p:nvSpPr>
        <p:spPr>
          <a:xfrm>
            <a:off x="5467880" y="3105150"/>
            <a:ext cx="3805766" cy="132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found 13 duplicate records in raw data. Loading duplicates would violate primary key constraints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GB" sz="1200" smtClean="0">
              <a:solidFill>
                <a:srgbClr val="21252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SELECT DISTINCT in staging INSERT query</a:t>
            </a:r>
            <a:endParaRPr lang="en-US" sz="1200"/>
          </a:p>
          <a:p>
            <a:endParaRPr lang="en-US" sz="1200"/>
          </a:p>
          <a:p>
            <a:endParaRPr lang="en-US" sz="1200"/>
          </a:p>
        </p:txBody>
      </p:sp>
      <p:sp>
        <p:nvSpPr>
          <p:cNvPr id="20" name="Rectangle 19"/>
          <p:cNvSpPr/>
          <p:nvPr/>
        </p:nvSpPr>
        <p:spPr>
          <a:xfrm>
            <a:off x="855134" y="3105150"/>
            <a:ext cx="3805766" cy="132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in Pay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Annum' and 'per Annum' treated as different values due to leading spaces — causing duplicate dim records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20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1"/>
            <a:r>
              <a:rPr lang="en-US" sz="95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TRIM() on all columns in staging layer</a:t>
            </a:r>
            <a:endParaRPr lang="en-US" sz="1200"/>
          </a:p>
          <a:p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5134" y="1143000"/>
            <a:ext cx="3805766" cy="1714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Salary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stored as '$47,678.00' (TEXT). Could not convert to NUMERIC directly. Pipeline broke during staging 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</a:p>
          <a:p>
            <a:endParaRPr lang="en-GB" sz="1200" b="1">
              <a:solidFill>
                <a:srgbClr val="21252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REPLACE() to remove $ sign before casting to NUMERIC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7334" y="1143000"/>
            <a:ext cx="177800" cy="1714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77334" y="3105150"/>
            <a:ext cx="177800" cy="132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298546" y="4673600"/>
            <a:ext cx="169334" cy="154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290080" y="3105150"/>
            <a:ext cx="177800" cy="132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290080" y="1143000"/>
            <a:ext cx="177800" cy="1714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2734" y="4673600"/>
            <a:ext cx="152400" cy="154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8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110566" cy="609600"/>
          </a:xfrm>
        </p:spPr>
        <p:txBody>
          <a:bodyPr>
            <a:normAutofit fontScale="90000"/>
          </a:bodyPr>
          <a:lstStyle/>
          <a:p>
            <a:r>
              <a:rPr lang="en-GB" smtClean="0"/>
              <a:t>Solutions &amp; Learnings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634" y="1397000"/>
            <a:ext cx="9711266" cy="563879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Key </a:t>
            </a: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</a:t>
            </a:r>
            <a:r>
              <a:rPr lang="en-US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									</a:t>
            </a: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dirty="0"/>
          </a:p>
          <a:p>
            <a:pPr marL="0" indent="0">
              <a:buNone/>
            </a:pPr>
            <a:endParaRPr lang="en-US" b="1" dirty="0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714870"/>
              </p:ext>
            </p:extLst>
          </p:nvPr>
        </p:nvGraphicFramePr>
        <p:xfrm>
          <a:off x="677334" y="1765300"/>
          <a:ext cx="40767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509521855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556584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mtClean="0"/>
                        <a:t>Problem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mtClean="0"/>
                        <a:t>Solution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87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$ in salary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REPLACE('$', '')::NUMERIC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201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NULL values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COALESCE(col, 'UNKNOWN')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Spaces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TRIM(</a:t>
                      </a:r>
                      <a:r>
                        <a:rPr lang="en-US" sz="1200" err="1" smtClean="0">
                          <a:solidFill>
                            <a:srgbClr val="000000"/>
                          </a:solidFill>
                        </a:rPr>
                        <a:t>column_name</a:t>
                      </a: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4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Duplicates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SELECT DISTINCT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60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FK errors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Load dims before fact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2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Type errors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Cast TEXT → INT/DATE/NUMERIC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965750"/>
                  </a:ext>
                </a:extLst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5253567" y="17653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complete ETL pipeline from scratch using Python and PostgreSQL</a:t>
            </a:r>
            <a:endParaRPr lang="en-US" sz="1200"/>
          </a:p>
          <a:p>
            <a:endParaRPr lang="en-US"/>
          </a:p>
        </p:txBody>
      </p:sp>
      <p:sp>
        <p:nvSpPr>
          <p:cNvPr id="6" name="Shape 5"/>
          <p:cNvSpPr/>
          <p:nvPr/>
        </p:nvSpPr>
        <p:spPr>
          <a:xfrm>
            <a:off x="5253567" y="24003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is essential BEFORE building any pipeline</a:t>
            </a:r>
            <a:endParaRPr lang="en-US" sz="1200" dirty="0"/>
          </a:p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53567" y="30099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Star Schema makes queries much faster on large datasets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253567" y="36449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separate code into clean folder structure (ETL layers)</a:t>
            </a:r>
            <a:endParaRPr lang="en-US" sz="1200"/>
          </a:p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274734" y="43053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 connects Python with PostgreSQL for data loading</a:t>
            </a:r>
            <a:endParaRPr lang="en-US" sz="1200"/>
          </a:p>
          <a:p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5274734" y="49657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stores TEXT and staging converts to proper types</a:t>
            </a:r>
            <a:endParaRPr lang="en-US" sz="1200"/>
          </a:p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5253567" y="56261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meaningful business insights using SQL analysis</a:t>
            </a:r>
            <a:endParaRPr lang="en-US" sz="1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5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694766" cy="647700"/>
          </a:xfrm>
        </p:spPr>
        <p:txBody>
          <a:bodyPr/>
          <a:lstStyle/>
          <a:p>
            <a:r>
              <a:rPr lang="en-GB" dirty="0" smtClean="0"/>
              <a:t>Future Enhancements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77334" y="1866900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01 Real Time Streaming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677334" y="2311401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Apache Kafka to handle real time data instead of CSV files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64468" y="3702048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05 </a:t>
            </a:r>
            <a:r>
              <a:rPr lang="en-US" sz="1200" dirty="0"/>
              <a:t>Cloud Migration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77334" y="3708399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04 Performance </a:t>
            </a:r>
            <a:r>
              <a:rPr lang="en-GB" sz="1200" dirty="0" err="1" smtClean="0"/>
              <a:t>Optimizaton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3564468" y="1866900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02 Data Validation Layer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6517216" y="1892301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03 Data Visualization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6517216" y="3702048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06 </a:t>
            </a:r>
            <a:r>
              <a:rPr lang="en-US" sz="1200" dirty="0"/>
              <a:t>Slowly Changing Dimensions (SCD)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7216" y="2324102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or Tableau to the PostgreSQL warehouse to create interactive dashboards showing salary trends and agency comparisons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4468" y="2298700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checks in staging to catch bad data early — validate salary ranges, check date formats, flag anomalies before loading.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17216" y="4076695"/>
            <a:ext cx="2501900" cy="1028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 historical changes in employee data over time Example: employee changes department → keep both old and new record!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64468" y="4076694"/>
            <a:ext cx="2501900" cy="1028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pipeline to the cloud using AWS S3 + Redshift or Google </a:t>
            </a:r>
            <a:r>
              <a:rPr lang="en-US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scalable storage and faster queries on large datasets.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77334" y="4140200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database indexes on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fact_payroll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faster query performance. Use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execute_batch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in psycopg2 for faster bulk inserts.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7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796366" cy="685800"/>
          </a:xfrm>
        </p:spPr>
        <p:txBody>
          <a:bodyPr/>
          <a:lstStyle/>
          <a:p>
            <a:r>
              <a:rPr lang="en-GB" smtClean="0"/>
              <a:t>Results &amp; </a:t>
            </a:r>
            <a:r>
              <a:rPr lang="en-GB"/>
              <a:t>K</a:t>
            </a:r>
            <a:r>
              <a:rPr lang="en-GB" smtClean="0"/>
              <a:t>ey Findings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95401"/>
            <a:ext cx="8596668" cy="474596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</a:t>
            </a:r>
            <a:r>
              <a:rPr lang="en-US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</a:p>
          <a:p>
            <a:pPr marL="0" indent="0">
              <a:buNone/>
            </a:pPr>
            <a:endParaRPr lang="en-GB" b="1" dirty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GB" b="1" dirty="0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GB" b="1" dirty="0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Key Insights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77334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798,132</a:t>
            </a:r>
          </a:p>
          <a:p>
            <a:pPr algn="ctr"/>
            <a:r>
              <a:rPr lang="en-GB" sz="1600" smtClean="0"/>
              <a:t>Unique Employees</a:t>
            </a:r>
            <a:endParaRPr lang="en-US" sz="1600"/>
          </a:p>
        </p:txBody>
      </p:sp>
      <p:sp>
        <p:nvSpPr>
          <p:cNvPr id="5" name="Rectangle 4"/>
          <p:cNvSpPr/>
          <p:nvPr/>
        </p:nvSpPr>
        <p:spPr>
          <a:xfrm>
            <a:off x="2950634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$117B</a:t>
            </a:r>
          </a:p>
          <a:p>
            <a:pPr algn="ctr"/>
            <a:r>
              <a:rPr lang="en-GB" sz="1600" smtClean="0"/>
              <a:t>Total Payroll Cost</a:t>
            </a:r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5319848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$41,100</a:t>
            </a:r>
          </a:p>
          <a:p>
            <a:pPr algn="ctr"/>
            <a:r>
              <a:rPr lang="en-GB" sz="1600" err="1" smtClean="0"/>
              <a:t>Avg</a:t>
            </a:r>
            <a:r>
              <a:rPr lang="en-GB" sz="1600" smtClean="0"/>
              <a:t> Base Salary</a:t>
            </a:r>
            <a:endParaRPr lang="en-US" sz="1600"/>
          </a:p>
        </p:txBody>
      </p:sp>
      <p:sp>
        <p:nvSpPr>
          <p:cNvPr id="7" name="Rectangle 6"/>
          <p:cNvSpPr/>
          <p:nvPr/>
        </p:nvSpPr>
        <p:spPr>
          <a:xfrm>
            <a:off x="7689062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145M hrs</a:t>
            </a:r>
          </a:p>
          <a:p>
            <a:pPr algn="ctr"/>
            <a:r>
              <a:rPr lang="en-GB" sz="1600" dirty="0" smtClean="0"/>
              <a:t>Total OT Hours</a:t>
            </a:r>
            <a:endParaRPr lang="en-US" sz="1600" dirty="0"/>
          </a:p>
        </p:txBody>
      </p:sp>
      <p:sp>
        <p:nvSpPr>
          <p:cNvPr id="8" name="Shape 16"/>
          <p:cNvSpPr/>
          <p:nvPr/>
        </p:nvSpPr>
        <p:spPr>
          <a:xfrm>
            <a:off x="677334" y="4452602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ED is largest agency with 423,338 employees</a:t>
            </a:r>
            <a:endParaRPr lang="en-US" sz="1200"/>
          </a:p>
          <a:p>
            <a:endParaRPr lang="en-US"/>
          </a:p>
        </p:txBody>
      </p:sp>
      <p:sp>
        <p:nvSpPr>
          <p:cNvPr id="9" name="Shape 16"/>
          <p:cNvSpPr/>
          <p:nvPr/>
        </p:nvSpPr>
        <p:spPr>
          <a:xfrm>
            <a:off x="677334" y="3221936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over $117 billion on payroll (2014-2017)</a:t>
            </a:r>
            <a:endParaRPr lang="en-US" sz="1200"/>
          </a:p>
          <a:p>
            <a:endParaRPr lang="en-US"/>
          </a:p>
        </p:txBody>
      </p:sp>
      <p:sp>
        <p:nvSpPr>
          <p:cNvPr id="10" name="Shape 16"/>
          <p:cNvSpPr/>
          <p:nvPr/>
        </p:nvSpPr>
        <p:spPr>
          <a:xfrm>
            <a:off x="677334" y="3797006"/>
            <a:ext cx="4114800" cy="44628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paid: Scott Evans - $350,000 (Pension Investment Advisor)</a:t>
            </a:r>
            <a:endParaRPr lang="en-US" sz="1200"/>
          </a:p>
          <a:p>
            <a:endParaRPr lang="en-US"/>
          </a:p>
        </p:txBody>
      </p:sp>
      <p:sp>
        <p:nvSpPr>
          <p:cNvPr id="11" name="Shape 16"/>
          <p:cNvSpPr/>
          <p:nvPr/>
        </p:nvSpPr>
        <p:spPr>
          <a:xfrm>
            <a:off x="677334" y="5032444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highest average salary among all boroughs</a:t>
            </a:r>
            <a:endParaRPr lang="en-US" sz="1200"/>
          </a:p>
          <a:p>
            <a:endParaRPr lang="en-US"/>
          </a:p>
        </p:txBody>
      </p:sp>
      <p:sp>
        <p:nvSpPr>
          <p:cNvPr id="12" name="Shape 16"/>
          <p:cNvSpPr/>
          <p:nvPr/>
        </p:nvSpPr>
        <p:spPr>
          <a:xfrm>
            <a:off x="677334" y="6297475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worked 145 million total overtime hours</a:t>
            </a:r>
            <a:endParaRPr lang="en-US" sz="1200"/>
          </a:p>
          <a:p>
            <a:endParaRPr lang="en-US"/>
          </a:p>
        </p:txBody>
      </p:sp>
      <p:sp>
        <p:nvSpPr>
          <p:cNvPr id="13" name="Shape 16"/>
          <p:cNvSpPr/>
          <p:nvPr/>
        </p:nvSpPr>
        <p:spPr>
          <a:xfrm>
            <a:off x="677334" y="5654316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steady increase from 2014 to 2017</a:t>
            </a:r>
            <a:endParaRPr lang="en-US" sz="1200"/>
          </a:p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81186" y="2886839"/>
            <a:ext cx="2896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Successfully Loaded</a:t>
            </a:r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466297"/>
              </p:ext>
            </p:extLst>
          </p:nvPr>
        </p:nvGraphicFramePr>
        <p:xfrm>
          <a:off x="5473700" y="3221936"/>
          <a:ext cx="399794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970">
                  <a:extLst>
                    <a:ext uri="{9D8B030D-6E8A-4147-A177-3AD203B41FA5}">
                      <a16:colId xmlns:a16="http://schemas.microsoft.com/office/drawing/2014/main" val="3337449717"/>
                    </a:ext>
                  </a:extLst>
                </a:gridCol>
                <a:gridCol w="1998970">
                  <a:extLst>
                    <a:ext uri="{9D8B030D-6E8A-4147-A177-3AD203B41FA5}">
                      <a16:colId xmlns:a16="http://schemas.microsoft.com/office/drawing/2014/main" val="3211499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mtClean="0"/>
                        <a:t>Table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mtClean="0"/>
                        <a:t>Records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27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raw.raw_nyc_payroll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2,194,488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45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stg.stg_nyc_payroll</a:t>
                      </a:r>
                      <a:r>
                        <a:rPr lang="en-US" sz="1200" smtClean="0"/>
                        <a:t> 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2,194,475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64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final.dim_agency</a:t>
                      </a:r>
                      <a:r>
                        <a:rPr lang="en-US" sz="1200" smtClean="0"/>
                        <a:t> 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165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55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final.dim_title</a:t>
                      </a:r>
                      <a:r>
                        <a:rPr lang="en-US" sz="1200" smtClean="0"/>
                        <a:t> 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1,963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478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final.fact_payroll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2689596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497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err="1" smtClean="0"/>
                        <a:t>Batch_runs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12 runs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317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Incremental_2018.csv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5 new rows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68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84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36380" y="5455263"/>
            <a:ext cx="2650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Figure 5: Record </a:t>
            </a:r>
            <a:r>
              <a:rPr lang="en-US" dirty="0"/>
              <a:t>C</a:t>
            </a:r>
            <a:r>
              <a:rPr lang="en-US" dirty="0" smtClean="0"/>
              <a:t>ounts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35" y="1039585"/>
            <a:ext cx="3924300" cy="424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634" y="1411289"/>
            <a:ext cx="8596668" cy="3880773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b="1" u="sng" dirty="0" smtClean="0">
              <a:solidFill>
                <a:srgbClr val="95D5B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GB" sz="6000" b="1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Thank</a:t>
            </a:r>
            <a:r>
              <a:rPr lang="en-GB" sz="6000" b="1" dirty="0" smtClean="0">
                <a:solidFill>
                  <a:schemeClr val="accent2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6000" b="1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000" b="1" dirty="0" smtClean="0">
              <a:solidFill>
                <a:schemeClr val="bg1"/>
              </a:solidFill>
              <a:latin typeface="Arial Rounded MT Bold" panose="020F070403050403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Payroll Data Engineering Project</a:t>
            </a:r>
          </a:p>
          <a:p>
            <a:pPr marL="0" indent="0" algn="ctr">
              <a:buNone/>
            </a:pPr>
            <a:endParaRPr lang="en-GB" b="1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Manoj Adhikari  |  LeapFrog Connect  |  </a:t>
            </a:r>
            <a:r>
              <a:rPr lang="en-US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15,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971800" y="3378200"/>
            <a:ext cx="4206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98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2572</TotalTime>
  <Words>1308</Words>
  <Application>Microsoft Office PowerPoint</Application>
  <PresentationFormat>Widescreen</PresentationFormat>
  <Paragraphs>428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Rounded MT Bold</vt:lpstr>
      <vt:lpstr>Calibri</vt:lpstr>
      <vt:lpstr>Cambria</vt:lpstr>
      <vt:lpstr>Consolas</vt:lpstr>
      <vt:lpstr>Trebuchet MS</vt:lpstr>
      <vt:lpstr>Wingdings</vt:lpstr>
      <vt:lpstr>Wingdings 3</vt:lpstr>
      <vt:lpstr>Facet</vt:lpstr>
      <vt:lpstr>NYC PAYROLL  Data Engineering Project</vt:lpstr>
      <vt:lpstr>PROBLEM STATEMENT &amp; OBJECTIVES</vt:lpstr>
      <vt:lpstr>Dataset Overview &amp; Data Profiling</vt:lpstr>
      <vt:lpstr>STAR SCHEMA DESIGN    </vt:lpstr>
      <vt:lpstr>PowerPoint Presentation</vt:lpstr>
      <vt:lpstr>ETL PIPELINE ARCHITECTURE</vt:lpstr>
      <vt:lpstr>IMPLEMENTATION DETAILS</vt:lpstr>
      <vt:lpstr>PowerPoint Presentation</vt:lpstr>
      <vt:lpstr>Pipeline Orchestration with Airflow</vt:lpstr>
      <vt:lpstr>PowerPoint Presentation</vt:lpstr>
      <vt:lpstr>PIPELINE EXECUTION GUIDE</vt:lpstr>
      <vt:lpstr>PowerPoint Presentation</vt:lpstr>
      <vt:lpstr>CHALLENGES FACED</vt:lpstr>
      <vt:lpstr>Solutions &amp; Learnings</vt:lpstr>
      <vt:lpstr>Future Enhancements</vt:lpstr>
      <vt:lpstr>Results &amp; Key Findings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PAYROLL  Data Engineering Project</dc:title>
  <dc:creator>acer</dc:creator>
  <cp:lastModifiedBy>acer</cp:lastModifiedBy>
  <cp:revision>81</cp:revision>
  <dcterms:created xsi:type="dcterms:W3CDTF">2026-04-29T05:11:27Z</dcterms:created>
  <dcterms:modified xsi:type="dcterms:W3CDTF">2026-05-14T10:46:10Z</dcterms:modified>
</cp:coreProperties>
</file>